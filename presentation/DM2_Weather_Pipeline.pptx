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rh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7187" y="960120"/>
            <a:ext cx="1417320" cy="10959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46888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555555"/>
                </a:solidFill>
                <a:latin typeface="Lato"/>
              </a:rPr>
              <a:t>D A T A   M A N A G E M E N T   2      ·      F I N A L   P R O J E C 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71800"/>
            <a:ext cx="103601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A1A"/>
                </a:solidFill>
                <a:latin typeface="Lato"/>
              </a:rPr>
              <a:t>Real-Time Weather and Air Quality 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94760"/>
            <a:ext cx="10360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64415"/>
                </a:solidFill>
                <a:latin typeface="Lato"/>
              </a:rPr>
              <a:t>Open-Meteo   ·   Spark   ·   BigQuery   ·   dbt   ·   Airflow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55767" y="4572000"/>
            <a:ext cx="1280160" cy="38100"/>
          </a:xfrm>
          <a:prstGeom prst="rect">
            <a:avLst/>
          </a:prstGeom>
          <a:solidFill>
            <a:srgbClr val="E644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6015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1A1A1A"/>
                </a:solidFill>
                <a:latin typeface="Lato"/>
              </a:rPr>
              <a:t>Devendra Singh Dhakad</a:t>
            </a:r>
            <a:r>
              <a:rPr sz="1600" b="0" i="0">
                <a:solidFill>
                  <a:srgbClr val="555555"/>
                </a:solidFill>
                <a:latin typeface="Lato"/>
              </a:rPr>
              <a:t>      ·      Matriculation No. 100004684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555555"/>
                </a:solidFill>
                <a:latin typeface="Lato"/>
              </a:rPr>
              <a:t>Data Management 2: Data Curation and Data Management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555555"/>
                </a:solidFill>
                <a:latin typeface="Lato"/>
              </a:rPr>
              <a:t>Examiner: Prof. Binh Vu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555555"/>
                </a:solidFill>
                <a:latin typeface="Lato"/>
              </a:rPr>
              <a:t>SRH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355080"/>
            <a:ext cx="103601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BBBBBB"/>
                </a:solidFill>
                <a:latin typeface="Lato"/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rh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0624"/>
            <a:ext cx="868680" cy="671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12984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E64415"/>
                </a:solidFill>
                <a:latin typeface="Lato"/>
              </a:rPr>
              <a:t>1   </a:t>
            </a:r>
            <a:r>
              <a:rPr sz="2700" b="1" i="0">
                <a:solidFill>
                  <a:srgbClr val="1A1A1A"/>
                </a:solidFill>
                <a:latin typeface="Lato"/>
              </a:rPr>
              <a:t>Project goal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993392"/>
            <a:ext cx="11018520" cy="1524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373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BBBBB"/>
                </a:solidFill>
                <a:latin typeface="Lato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8813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E64415"/>
                </a:solidFill>
                <a:latin typeface="Lato"/>
              </a:rPr>
              <a:t>•  </a:t>
            </a:r>
            <a:r>
              <a:rPr sz="1600" b="0" i="0">
                <a:solidFill>
                  <a:srgbClr val="1A1A1A"/>
                </a:solidFill>
                <a:latin typeface="Lato"/>
              </a:rPr>
              <a:t>Build a complete, automated data pipeline that collects live weather and air quality for ten European cities, cleans and models the data, and serves analytics-ready tables in BigQuery.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E64415"/>
                </a:solidFill>
                <a:latin typeface="Lato"/>
              </a:rPr>
              <a:t>•  </a:t>
            </a:r>
            <a:r>
              <a:rPr sz="1600" b="0" i="0">
                <a:solidFill>
                  <a:srgbClr val="1A1A1A"/>
                </a:solidFill>
                <a:latin typeface="Lato"/>
              </a:rPr>
              <a:t>It demonstrates the full data-curation lifecycle: real-time extraction, distributed cleaning, warehouse loading, SQL transformation with tests, and hands-off scheduling.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069080"/>
            <a:ext cx="2542032" cy="1691640"/>
          </a:xfrm>
          <a:prstGeom prst="rect">
            <a:avLst/>
          </a:prstGeom>
          <a:solidFill>
            <a:srgbClr val="FAF6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4069080"/>
            <a:ext cx="2542032" cy="73152"/>
          </a:xfrm>
          <a:prstGeom prst="rect">
            <a:avLst/>
          </a:prstGeom>
          <a:solidFill>
            <a:srgbClr val="E644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361688"/>
            <a:ext cx="2542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E64415"/>
                </a:solidFill>
                <a:latin typeface="La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48072"/>
            <a:ext cx="23591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Lato"/>
              </a:rPr>
              <a:t>data sources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Lato"/>
              </a:rPr>
              <a:t>(one real-time)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4069080"/>
            <a:ext cx="2542032" cy="1691640"/>
          </a:xfrm>
          <a:prstGeom prst="rect">
            <a:avLst/>
          </a:prstGeom>
          <a:solidFill>
            <a:srgbClr val="FAF6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4069080"/>
            <a:ext cx="2542032" cy="73152"/>
          </a:xfrm>
          <a:prstGeom prst="rect">
            <a:avLst/>
          </a:prstGeom>
          <a:solidFill>
            <a:srgbClr val="E644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4361688"/>
            <a:ext cx="2542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E64415"/>
                </a:solidFill>
                <a:latin typeface="Lato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5148072"/>
            <a:ext cx="23591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Lato"/>
              </a:rPr>
              <a:t>European cities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Lato"/>
              </a:rPr>
              <a:t>polled live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4069080"/>
            <a:ext cx="2542032" cy="1691640"/>
          </a:xfrm>
          <a:prstGeom prst="rect">
            <a:avLst/>
          </a:prstGeom>
          <a:solidFill>
            <a:srgbClr val="FAF6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4069080"/>
            <a:ext cx="2542032" cy="73152"/>
          </a:xfrm>
          <a:prstGeom prst="rect">
            <a:avLst/>
          </a:prstGeom>
          <a:solidFill>
            <a:srgbClr val="E644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4361688"/>
            <a:ext cx="2542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E64415"/>
                </a:solidFill>
                <a:latin typeface="Lato"/>
              </a:rPr>
              <a:t>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148072"/>
            <a:ext cx="23591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Lato"/>
              </a:rPr>
              <a:t>automatic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Lato"/>
              </a:rPr>
              <a:t>run interval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4069080"/>
            <a:ext cx="2542032" cy="1691640"/>
          </a:xfrm>
          <a:prstGeom prst="rect">
            <a:avLst/>
          </a:prstGeom>
          <a:solidFill>
            <a:srgbClr val="FAF6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4069080"/>
            <a:ext cx="2542032" cy="73152"/>
          </a:xfrm>
          <a:prstGeom prst="rect">
            <a:avLst/>
          </a:prstGeom>
          <a:solidFill>
            <a:srgbClr val="E644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4361688"/>
            <a:ext cx="2542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E64415"/>
                </a:solidFill>
                <a:latin typeface="Lato"/>
              </a:rPr>
              <a:t>6 /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5148072"/>
            <a:ext cx="23591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Lato"/>
              </a:rPr>
              <a:t>exam requirements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Lato"/>
              </a:rPr>
              <a:t>met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rh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0624"/>
            <a:ext cx="868680" cy="671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12984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E64415"/>
                </a:solidFill>
                <a:latin typeface="Lato"/>
              </a:rPr>
              <a:t>2   </a:t>
            </a:r>
            <a:r>
              <a:rPr sz="2700" b="1" i="0">
                <a:solidFill>
                  <a:srgbClr val="1A1A1A"/>
                </a:solidFill>
                <a:latin typeface="Lato"/>
              </a:rPr>
              <a:t>Architecture and 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993392"/>
            <a:ext cx="11018520" cy="1524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373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BBBBB"/>
                </a:solidFill>
                <a:latin typeface="Lato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51760"/>
            <a:ext cx="1666189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44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798064"/>
            <a:ext cx="151988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Lato"/>
              </a:rPr>
              <a:t>Open-Meteo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Lato"/>
              </a:rPr>
              <a:t>APIs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255264"/>
            <a:ext cx="151988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Lato"/>
              </a:rPr>
              <a:t>weather 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Lato"/>
              </a:rPr>
              <a:t>air quality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24557" y="3218688"/>
            <a:ext cx="146304" cy="146304"/>
          </a:xfrm>
          <a:prstGeom prst="rightArrow">
            <a:avLst/>
          </a:prstGeom>
          <a:solidFill>
            <a:srgbClr val="E644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89149" y="2651760"/>
            <a:ext cx="1666189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44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2301" y="2798064"/>
            <a:ext cx="151988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Lato"/>
              </a:rPr>
              <a:t>producer.py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2301" y="3255264"/>
            <a:ext cx="151988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Lato"/>
              </a:rPr>
              <a:t>extract to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Lato"/>
              </a:rPr>
              <a:t>JSON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73626" y="3218688"/>
            <a:ext cx="146304" cy="146304"/>
          </a:xfrm>
          <a:prstGeom prst="rightArrow">
            <a:avLst/>
          </a:prstGeom>
          <a:solidFill>
            <a:srgbClr val="E644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38218" y="2651760"/>
            <a:ext cx="1666189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44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1370" y="2798064"/>
            <a:ext cx="151988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Lato"/>
              </a:rPr>
              <a:t>Spark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1370" y="3255264"/>
            <a:ext cx="151988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Lato"/>
              </a:rPr>
              <a:t>clean to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Lato"/>
              </a:rPr>
              <a:t>Parquet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022695" y="3218688"/>
            <a:ext cx="146304" cy="146304"/>
          </a:xfrm>
          <a:prstGeom prst="rightArrow">
            <a:avLst/>
          </a:prstGeom>
          <a:solidFill>
            <a:srgbClr val="E644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7287" y="2651760"/>
            <a:ext cx="1666189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44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0439" y="2798064"/>
            <a:ext cx="151988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Lato"/>
              </a:rPr>
              <a:t>load_bigquery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0439" y="3255264"/>
            <a:ext cx="151988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Lato"/>
              </a:rPr>
              <a:t>load to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Lato"/>
              </a:rPr>
              <a:t>raw table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871764" y="3218688"/>
            <a:ext cx="146304" cy="146304"/>
          </a:xfrm>
          <a:prstGeom prst="rightArrow">
            <a:avLst/>
          </a:prstGeom>
          <a:solidFill>
            <a:srgbClr val="E644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36356" y="2651760"/>
            <a:ext cx="1666189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44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09508" y="2798064"/>
            <a:ext cx="151988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Lato"/>
              </a:rPr>
              <a:t>dbt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9508" y="3255264"/>
            <a:ext cx="151988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Lato"/>
              </a:rPr>
              <a:t>model 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Lato"/>
              </a:rPr>
              <a:t>test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720833" y="3218688"/>
            <a:ext cx="146304" cy="146304"/>
          </a:xfrm>
          <a:prstGeom prst="rightArrow">
            <a:avLst/>
          </a:prstGeom>
          <a:solidFill>
            <a:srgbClr val="E644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885425" y="2651760"/>
            <a:ext cx="1666189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44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58577" y="2798064"/>
            <a:ext cx="151988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Lato"/>
              </a:rPr>
              <a:t>Mart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Lato"/>
              </a:rPr>
              <a:t>tables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58577" y="3255264"/>
            <a:ext cx="151988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Lato"/>
              </a:rPr>
              <a:t>analytics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Lato"/>
              </a:rPr>
              <a:t>ready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343400"/>
            <a:ext cx="10881360" cy="548640"/>
          </a:xfrm>
          <a:prstGeom prst="rect">
            <a:avLst/>
          </a:prstGeom>
          <a:solidFill>
            <a:srgbClr val="E644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343400"/>
            <a:ext cx="10881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Lato"/>
              </a:rPr>
              <a:t>Apache Airflow runs every step, every 5 minutes (cron fallback: run_pipeline.sh)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2120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A1A1A"/>
                </a:solidFill>
                <a:latin typeface="Lato"/>
              </a:rPr>
              <a:t>Two isolated Python 3.11 environments keep dependencies apart: </a:t>
            </a:r>
            <a:r>
              <a:rPr sz="1300" b="0" i="0">
                <a:solidFill>
                  <a:srgbClr val="555555"/>
                </a:solidFill>
                <a:latin typeface="Lato"/>
              </a:rPr>
              <a:t>.venv-pipeline (Spark, dbt, BigQuery) and airflow/.venv-airflow (Airflow 2.10). Airflow tasks shell into the pipeline environment.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rh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0624"/>
            <a:ext cx="868680" cy="671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12984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E64415"/>
                </a:solidFill>
                <a:latin typeface="Lato"/>
              </a:rPr>
              <a:t>3   </a:t>
            </a:r>
            <a:r>
              <a:rPr sz="2700" b="1" i="0">
                <a:solidFill>
                  <a:srgbClr val="1A1A1A"/>
                </a:solidFill>
                <a:latin typeface="Lato"/>
              </a:rPr>
              <a:t>Data sources: two, one real-time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993392"/>
            <a:ext cx="11018520" cy="1524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373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BBBBB"/>
                </a:solidFill>
                <a:latin typeface="Lato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5303520" cy="3108960"/>
          </a:xfrm>
          <a:prstGeom prst="rect">
            <a:avLst/>
          </a:prstGeom>
          <a:solidFill>
            <a:srgbClr val="FAF6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91440" cy="3108960"/>
          </a:xfrm>
          <a:prstGeom prst="rect">
            <a:avLst/>
          </a:prstGeom>
          <a:solidFill>
            <a:srgbClr val="E644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48463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64415"/>
                </a:solidFill>
                <a:latin typeface="Lato"/>
              </a:rPr>
              <a:t>Source 1: Open-Meteo  (real-time)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A1A1A"/>
                </a:solidFill>
                <a:latin typeface="Lato"/>
              </a:rPr>
              <a:t>Two free REST APIs, no key. Weather (temperature, humidity, wind, code) and air quality (PM10, PM2.5, European AQI, ozone).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A1A1A"/>
                </a:solidFill>
                <a:latin typeface="Lato"/>
              </a:rPr>
              <a:t>Polled for 10 cities every 5 minutes, so the landing zone is a live, growing stream of observations.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2286000"/>
            <a:ext cx="5257800" cy="3108960"/>
          </a:xfrm>
          <a:prstGeom prst="rect">
            <a:avLst/>
          </a:prstGeom>
          <a:solidFill>
            <a:srgbClr val="FAF6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2286000"/>
            <a:ext cx="91440" cy="3108960"/>
          </a:xfrm>
          <a:prstGeom prst="rect">
            <a:avLst/>
          </a:prstGeom>
          <a:solidFill>
            <a:srgbClr val="E644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487168"/>
            <a:ext cx="4800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64415"/>
                </a:solidFill>
                <a:latin typeface="Lato"/>
              </a:rPr>
              <a:t>Source 2: City reference  (static)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A1A1A"/>
                </a:solidFill>
                <a:latin typeface="Lato"/>
              </a:rPr>
              <a:t>A curated CSV of the 10 cities (country, country name, latitude, longitude, population, timezone), loaded as a dbt seed.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A1A1A"/>
                </a:solidFill>
                <a:latin typeface="Lato"/>
              </a:rPr>
              <a:t>Reference data that rarely changes. It enriches every reading and anchors a referential-integrity test.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1A1A1A"/>
                </a:solidFill>
                <a:latin typeface="Lato"/>
              </a:rPr>
              <a:t>The two sources join on city: a fast-moving stream combined with slow-moving reference data, a classic curation pattern.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rh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0624"/>
            <a:ext cx="868680" cy="671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12984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E64415"/>
                </a:solidFill>
                <a:latin typeface="Lato"/>
              </a:rPr>
              <a:t>4   </a:t>
            </a:r>
            <a:r>
              <a:rPr sz="2700" b="1" i="0">
                <a:solidFill>
                  <a:srgbClr val="1A1A1A"/>
                </a:solidFill>
                <a:latin typeface="Lato"/>
              </a:rPr>
              <a:t>Extract: producer.py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993392"/>
            <a:ext cx="11018520" cy="1524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373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BBBBB"/>
                </a:solidFill>
                <a:latin typeface="Lato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52120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E64415"/>
                </a:solidFill>
                <a:latin typeface="Lato"/>
              </a:rPr>
              <a:t>•  </a:t>
            </a:r>
            <a:r>
              <a:rPr sz="1400" b="0" i="0">
                <a:solidFill>
                  <a:srgbClr val="1A1A1A"/>
                </a:solidFill>
                <a:latin typeface="Lato"/>
              </a:rPr>
              <a:t>Calls both Open-Meteo endpoints for each city and writes one newline-delimited JSON file per run into the landing zone.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E64415"/>
                </a:solidFill>
                <a:latin typeface="Lato"/>
              </a:rPr>
              <a:t>•  </a:t>
            </a:r>
            <a:r>
              <a:rPr sz="1400" b="0" i="0">
                <a:solidFill>
                  <a:srgbClr val="1A1A1A"/>
                </a:solidFill>
                <a:latin typeface="Lato"/>
              </a:rPr>
              <a:t>timezone=UTC keeps every observation timestamp comparable.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E64415"/>
                </a:solidFill>
                <a:latin typeface="Lato"/>
              </a:rPr>
              <a:t>•  </a:t>
            </a:r>
            <a:r>
              <a:rPr sz="1400" b="0" i="0">
                <a:solidFill>
                  <a:srgbClr val="1A1A1A"/>
                </a:solidFill>
                <a:latin typeface="Lato"/>
              </a:rPr>
              <a:t>Per-city try and except: one failed city does not abort the whole run.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E64415"/>
                </a:solidFill>
                <a:latin typeface="Lato"/>
              </a:rPr>
              <a:t>•  </a:t>
            </a:r>
            <a:r>
              <a:rPr sz="1400" b="0" i="0">
                <a:solidFill>
                  <a:srgbClr val="1A1A1A"/>
                </a:solidFill>
                <a:latin typeface="Lato"/>
              </a:rPr>
              <a:t>The nesting is deliberate, so Spark does the real flattening downstream.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2286000"/>
            <a:ext cx="5486400" cy="3657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245059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1">
                <a:solidFill>
                  <a:srgbClr val="555555"/>
                </a:solidFill>
                <a:latin typeface="Lato"/>
              </a:rPr>
              <a:t>data/landing/readings_*.json  (one line per city)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761488"/>
            <a:ext cx="50292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A1A1A"/>
                </a:solidFill>
                <a:latin typeface="Courier New"/>
              </a:rPr>
              <a:t>{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A1A1A"/>
                </a:solidFill>
                <a:latin typeface="Courier New"/>
              </a:rPr>
              <a:t>  "city": "Berlin", "country": "DE",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A1A1A"/>
                </a:solidFill>
                <a:latin typeface="Courier New"/>
              </a:rPr>
              <a:t>  "weather": {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A1A1A"/>
                </a:solidFill>
                <a:latin typeface="Courier New"/>
              </a:rPr>
              <a:t>     "time": "2026-06-14T15:45",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A1A1A"/>
                </a:solidFill>
                <a:latin typeface="Courier New"/>
              </a:rPr>
              <a:t>     "temperature_2m": 15.9,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A1A1A"/>
                </a:solidFill>
                <a:latin typeface="Courier New"/>
              </a:rPr>
              <a:t>     "relative_humidity_2m": 64,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A1A1A"/>
                </a:solidFill>
                <a:latin typeface="Courier New"/>
              </a:rPr>
              <a:t>     "wind_speed_10m": 20.8 },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A1A1A"/>
                </a:solidFill>
                <a:latin typeface="Courier New"/>
              </a:rPr>
              <a:t>  "air_quality": {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A1A1A"/>
                </a:solidFill>
                <a:latin typeface="Courier New"/>
              </a:rPr>
              <a:t>     "pm2_5": 2.4, "european_aqi": 26 },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A1A1A"/>
                </a:solidFill>
                <a:latin typeface="Courier New"/>
              </a:rPr>
              <a:t>  "ingested_at": "2026-06-14T15:50:19Z"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A1A1A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rh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0624"/>
            <a:ext cx="868680" cy="671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12984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E64415"/>
                </a:solidFill>
                <a:latin typeface="Lato"/>
              </a:rPr>
              <a:t>5   </a:t>
            </a:r>
            <a:r>
              <a:rPr sz="2700" b="1" i="0">
                <a:solidFill>
                  <a:srgbClr val="1A1A1A"/>
                </a:solidFill>
                <a:latin typeface="Lato"/>
              </a:rPr>
              <a:t>Clean with Spark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993392"/>
            <a:ext cx="11018520" cy="1524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373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BBBBB"/>
                </a:solidFill>
                <a:latin typeface="Lato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84048" cy="384048"/>
          </a:xfrm>
          <a:prstGeom prst="roundRect">
            <a:avLst/>
          </a:prstGeom>
          <a:solidFill>
            <a:srgbClr val="E644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La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2286000"/>
            <a:ext cx="4663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Lato"/>
              </a:rPr>
              <a:t>Flatten the nested weather and air-quality blocks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34640"/>
            <a:ext cx="384048" cy="384048"/>
          </a:xfrm>
          <a:prstGeom prst="roundRect">
            <a:avLst/>
          </a:prstGeom>
          <a:solidFill>
            <a:srgbClr val="E644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Lato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2834640"/>
            <a:ext cx="4663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Lato"/>
              </a:rPr>
              <a:t>Cast every field to its proper type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83280"/>
            <a:ext cx="384048" cy="384048"/>
          </a:xfrm>
          <a:prstGeom prst="roundRect">
            <a:avLst/>
          </a:prstGeom>
          <a:solidFill>
            <a:srgbClr val="E644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Lato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383280"/>
            <a:ext cx="4663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Lato"/>
              </a:rPr>
              <a:t>Parse the time string into a real timestamp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31920"/>
            <a:ext cx="384048" cy="384048"/>
          </a:xfrm>
          <a:prstGeom prst="roundRect">
            <a:avLst/>
          </a:prstGeom>
          <a:solidFill>
            <a:srgbClr val="E644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9319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Lato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931920"/>
            <a:ext cx="4663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Lato"/>
              </a:rPr>
              <a:t>Drop rows with null city, time or temperature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480560"/>
            <a:ext cx="384048" cy="384048"/>
          </a:xfrm>
          <a:prstGeom prst="roundRect">
            <a:avLst/>
          </a:prstGeom>
          <a:solidFill>
            <a:srgbClr val="E644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4805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Lato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4480560"/>
            <a:ext cx="4663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Lato"/>
              </a:rPr>
              <a:t>Deduplicate by (city, observed_at) in the batch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029200"/>
            <a:ext cx="384048" cy="384048"/>
          </a:xfrm>
          <a:prstGeom prst="roundRect">
            <a:avLst/>
          </a:prstGeom>
          <a:solidFill>
            <a:srgbClr val="E644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0292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Lat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5029200"/>
            <a:ext cx="4663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Lato"/>
              </a:rPr>
              <a:t>Derive aqi_category from the European AQI bands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2286000"/>
            <a:ext cx="5486400" cy="33832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45059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1">
                <a:solidFill>
                  <a:srgbClr val="555555"/>
                </a:solidFill>
                <a:latin typeface="Lato"/>
              </a:rPr>
              <a:t>Spark Structured Streaming, Trigger.AvailableNow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761488"/>
            <a:ext cx="502920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A1A1A"/>
                </a:solidFill>
                <a:latin typeface="Courier New"/>
              </a:rPr>
              <a:t>cleaned = (batch_df.select(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A1A1A"/>
                </a:solidFill>
                <a:latin typeface="Courier New"/>
              </a:rPr>
              <a:t>    F.col('city'),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A1A1A"/>
                </a:solidFill>
                <a:latin typeface="Courier New"/>
              </a:rPr>
              <a:t>    F.to_timestamp(F.col('weather.time'),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A1A1A"/>
                </a:solidFill>
                <a:latin typeface="Courier New"/>
              </a:rPr>
              <a:t>        "yyyy-MM-dd'T'HH:mm")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A1A1A"/>
                </a:solidFill>
                <a:latin typeface="Courier New"/>
              </a:rPr>
              <a:t>      .alias('observed_at'),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A1A1A"/>
                </a:solidFill>
                <a:latin typeface="Courier New"/>
              </a:rPr>
              <a:t>    F.col('weather.temperature_2m'))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A1A1A"/>
                </a:solidFill>
                <a:latin typeface="Courier New"/>
              </a:rPr>
              <a:t>  .where(F.col('temperature_2m').isNotNull())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A1A1A"/>
                </a:solidFill>
                <a:latin typeface="Courier New"/>
              </a:rPr>
              <a:t>  .dropDuplicates(['city','observed_at']))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rh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0624"/>
            <a:ext cx="868680" cy="671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12984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E64415"/>
                </a:solidFill>
                <a:latin typeface="Lato"/>
              </a:rPr>
              <a:t>6   </a:t>
            </a:r>
            <a:r>
              <a:rPr sz="2700" b="1" i="0">
                <a:solidFill>
                  <a:srgbClr val="1A1A1A"/>
                </a:solidFill>
                <a:latin typeface="Lato"/>
              </a:rPr>
              <a:t>Load into BigQuery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993392"/>
            <a:ext cx="11018520" cy="1524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373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BBBBB"/>
                </a:solidFill>
                <a:latin typeface="Lato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5486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E64415"/>
                </a:solidFill>
                <a:latin typeface="Lato"/>
              </a:rPr>
              <a:t>•  </a:t>
            </a:r>
            <a:r>
              <a:rPr sz="1400" b="0" i="0">
                <a:solidFill>
                  <a:srgbClr val="1A1A1A"/>
                </a:solidFill>
                <a:latin typeface="Lato"/>
              </a:rPr>
              <a:t>load_bigquery.py reads all cleaned Parquet and loads it into raw.weather_readings with WRITE_TRUNCATE.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E64415"/>
                </a:solidFill>
                <a:latin typeface="Lato"/>
              </a:rPr>
              <a:t>•  </a:t>
            </a:r>
            <a:r>
              <a:rPr sz="1400" b="0" i="0">
                <a:solidFill>
                  <a:srgbClr val="1A1A1A"/>
                </a:solidFill>
                <a:latin typeface="Lato"/>
              </a:rPr>
              <a:t>Idempotent: running it twice gives the same table, no duplicates, so Airflow can safely retry.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E64415"/>
                </a:solidFill>
                <a:latin typeface="Lato"/>
              </a:rPr>
              <a:t>•  </a:t>
            </a:r>
            <a:r>
              <a:rPr sz="1400" b="0" i="0">
                <a:solidFill>
                  <a:srgbClr val="1A1A1A"/>
                </a:solidFill>
                <a:latin typeface="Lato"/>
              </a:rPr>
              <a:t>Uses the google-cloud-bigquery client only. No gcloud CLI; auth via a service account key.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E64415"/>
                </a:solidFill>
                <a:latin typeface="Lato"/>
              </a:rPr>
              <a:t>•  </a:t>
            </a:r>
            <a:r>
              <a:rPr sz="1400" b="0" i="0">
                <a:solidFill>
                  <a:srgbClr val="1A1A1A"/>
                </a:solidFill>
                <a:latin typeface="Lato"/>
              </a:rPr>
              <a:t>Verified: 30 rows loaded into the raw 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2286000"/>
            <a:ext cx="5212080" cy="3566160"/>
          </a:xfrm>
          <a:prstGeom prst="rect">
            <a:avLst/>
          </a:prstGeom>
          <a:solidFill>
            <a:srgbClr val="FAF6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2286000"/>
            <a:ext cx="91440" cy="3566160"/>
          </a:xfrm>
          <a:prstGeom prst="rect">
            <a:avLst/>
          </a:prstGeom>
          <a:solidFill>
            <a:srgbClr val="E644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487168"/>
            <a:ext cx="475488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64415"/>
                </a:solidFill>
                <a:latin typeface="Courier New"/>
              </a:rPr>
              <a:t>raw.weather_readings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ourier New"/>
              </a:rPr>
              <a:t>city, country            STRING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ourier New"/>
              </a:rPr>
              <a:t>latitude, longitude      FLOAT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ourier New"/>
              </a:rPr>
              <a:t>observed_at              TIMESTAMP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ourier New"/>
              </a:rPr>
              <a:t>temperature_2m           FLOAT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ourier New"/>
              </a:rPr>
              <a:t>relative_humidity_2m     INTEGER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ourier New"/>
              </a:rPr>
              <a:t>wind_speed_10m           FLOAT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ourier New"/>
              </a:rPr>
              <a:t>pm10, pm2_5, ozone       FLOAT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ourier New"/>
              </a:rPr>
              <a:t>european_aqi             INTEGER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ourier New"/>
              </a:rPr>
              <a:t>aqi_category             STRING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ourier New"/>
              </a:rPr>
              <a:t>ingested_at              TIMESTAMP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rh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0624"/>
            <a:ext cx="868680" cy="671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12984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E64415"/>
                </a:solidFill>
                <a:latin typeface="Lato"/>
              </a:rPr>
              <a:t>7   </a:t>
            </a:r>
            <a:r>
              <a:rPr sz="2700" b="1" i="0">
                <a:solidFill>
                  <a:srgbClr val="1A1A1A"/>
                </a:solidFill>
                <a:latin typeface="Lato"/>
              </a:rPr>
              <a:t>Transform with dbt (ELT)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993392"/>
            <a:ext cx="11018520" cy="1524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373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BBBBB"/>
                </a:solidFill>
                <a:latin typeface="Lato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2590723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44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478024"/>
            <a:ext cx="24444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Lato"/>
              </a:rPr>
              <a:t>raw.weather_readings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35224"/>
            <a:ext cx="244441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55555"/>
                </a:solidFill>
                <a:latin typeface="Lato"/>
              </a:rPr>
              <a:t>source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49091" y="2715768"/>
            <a:ext cx="146304" cy="146304"/>
          </a:xfrm>
          <a:prstGeom prst="rightArrow">
            <a:avLst/>
          </a:prstGeom>
          <a:solidFill>
            <a:srgbClr val="E644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13683" y="2331720"/>
            <a:ext cx="2590723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44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86835" y="2478024"/>
            <a:ext cx="24444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Lato"/>
              </a:rPr>
              <a:t>stg_weather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6835" y="2935224"/>
            <a:ext cx="244441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55555"/>
                </a:solidFill>
                <a:latin typeface="Lato"/>
              </a:rPr>
              <a:t>staging (view)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22694" y="2715768"/>
            <a:ext cx="146304" cy="146304"/>
          </a:xfrm>
          <a:prstGeom prst="rightArrow">
            <a:avLst/>
          </a:prstGeom>
          <a:solidFill>
            <a:srgbClr val="E644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87286" y="2331720"/>
            <a:ext cx="2590723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44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0438" y="2478024"/>
            <a:ext cx="24444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Lato"/>
              </a:rPr>
              <a:t>fct_weather_readings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0438" y="2935224"/>
            <a:ext cx="244441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55555"/>
                </a:solidFill>
                <a:latin typeface="Lato"/>
              </a:rPr>
              <a:t>mart (table)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96297" y="2715768"/>
            <a:ext cx="146304" cy="146304"/>
          </a:xfrm>
          <a:prstGeom prst="rightArrow">
            <a:avLst/>
          </a:prstGeom>
          <a:solidFill>
            <a:srgbClr val="E644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60889" y="2331720"/>
            <a:ext cx="2590723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44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34041" y="2478024"/>
            <a:ext cx="24444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Lato"/>
              </a:rPr>
              <a:t>agg_* KPIs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34041" y="2935224"/>
            <a:ext cx="244441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55555"/>
                </a:solidFill>
                <a:latin typeface="Lato"/>
              </a:rPr>
              <a:t>mart (table)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4290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555555"/>
                </a:solidFill>
                <a:latin typeface="Lato"/>
              </a:rPr>
              <a:t>The static seed (stg_cities) joins into fct_weather_readings to add country name and population.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977639"/>
            <a:ext cx="5303520" cy="2240280"/>
          </a:xfrm>
          <a:prstGeom prst="rect">
            <a:avLst/>
          </a:prstGeom>
          <a:solidFill>
            <a:srgbClr val="FAF6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977639"/>
            <a:ext cx="91440" cy="2240280"/>
          </a:xfrm>
          <a:prstGeom prst="rect">
            <a:avLst/>
          </a:prstGeom>
          <a:solidFill>
            <a:srgbClr val="E644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E64415"/>
                </a:solidFill>
                <a:latin typeface="Lato"/>
              </a:rPr>
              <a:t>Why ELT, not ETL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Lato"/>
              </a:rPr>
              <a:t>Spark does only light cleaning. All business logic then runs as dbt SQL inside BigQuery: warehouse scale, version-controlled SQL, lineage, and built-in tests.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977639"/>
            <a:ext cx="5257800" cy="2240280"/>
          </a:xfrm>
          <a:prstGeom prst="rect">
            <a:avLst/>
          </a:prstGeom>
          <a:solidFill>
            <a:srgbClr val="FAF6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977639"/>
            <a:ext cx="91440" cy="2240280"/>
          </a:xfrm>
          <a:prstGeom prst="rect">
            <a:avLst/>
          </a:prstGeom>
          <a:solidFill>
            <a:srgbClr val="E644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4160520"/>
            <a:ext cx="48006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E64415"/>
                </a:solidFill>
                <a:latin typeface="Lato"/>
              </a:rPr>
              <a:t>The models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ourier New"/>
              </a:rPr>
              <a:t>staging:  stg_weather, stg_cities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ourier New"/>
              </a:rPr>
              <a:t>marts:    fct_weather_readings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ourier New"/>
              </a:rPr>
              <a:t>          agg_weather_by_city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ourier New"/>
              </a:rPr>
              <a:t>          agg_air_quality_by_country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Lato"/>
              </a:rPr>
              <a:t>5 models built successfully.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rh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0624"/>
            <a:ext cx="868680" cy="671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12984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E64415"/>
                </a:solidFill>
                <a:latin typeface="Lato"/>
              </a:rPr>
              <a:t>8   </a:t>
            </a:r>
            <a:r>
              <a:rPr sz="2700" b="1" i="0">
                <a:solidFill>
                  <a:srgbClr val="1A1A1A"/>
                </a:solidFill>
                <a:latin typeface="Lato"/>
              </a:rPr>
              <a:t>Data quality: 17 tests, all pass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993392"/>
            <a:ext cx="11018520" cy="1524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373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BBBBB"/>
                </a:solidFill>
                <a:latin typeface="Lato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2468880" cy="658368"/>
          </a:xfrm>
          <a:prstGeom prst="rect">
            <a:avLst/>
          </a:prstGeom>
          <a:solidFill>
            <a:srgbClr val="FAF6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73152" cy="658368"/>
          </a:xfrm>
          <a:prstGeom prst="rect">
            <a:avLst/>
          </a:prstGeom>
          <a:solidFill>
            <a:srgbClr val="E644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2468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64415"/>
                </a:solidFill>
                <a:latin typeface="Courier New"/>
              </a:rPr>
              <a:t>not_null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286000"/>
            <a:ext cx="8138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Lato"/>
              </a:rPr>
              <a:t>Key fields are never empty: city, observed_at, reading_id.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127248"/>
            <a:ext cx="2468880" cy="658368"/>
          </a:xfrm>
          <a:prstGeom prst="rect">
            <a:avLst/>
          </a:prstGeom>
          <a:solidFill>
            <a:srgbClr val="FAF6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127248"/>
            <a:ext cx="73152" cy="658368"/>
          </a:xfrm>
          <a:prstGeom prst="rect">
            <a:avLst/>
          </a:prstGeom>
          <a:solidFill>
            <a:srgbClr val="E644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27248"/>
            <a:ext cx="2468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64415"/>
                </a:solidFill>
                <a:latin typeface="Courier New"/>
              </a:rPr>
              <a:t>unique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127248"/>
            <a:ext cx="8138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Lato"/>
              </a:rPr>
              <a:t>No duplicate keys: reading_id and city are unique in the marts.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968496"/>
            <a:ext cx="2468880" cy="658368"/>
          </a:xfrm>
          <a:prstGeom prst="rect">
            <a:avLst/>
          </a:prstGeom>
          <a:solidFill>
            <a:srgbClr val="FAF6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968496"/>
            <a:ext cx="73152" cy="658368"/>
          </a:xfrm>
          <a:prstGeom prst="rect">
            <a:avLst/>
          </a:prstGeom>
          <a:solidFill>
            <a:srgbClr val="E644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968496"/>
            <a:ext cx="2468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64415"/>
                </a:solidFill>
                <a:latin typeface="Courier New"/>
              </a:rPr>
              <a:t>accepted_values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968496"/>
            <a:ext cx="8138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Lato"/>
              </a:rPr>
              <a:t>aqi_category is always one of the six European AQI bands.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809744"/>
            <a:ext cx="2468880" cy="658368"/>
          </a:xfrm>
          <a:prstGeom prst="rect">
            <a:avLst/>
          </a:prstGeom>
          <a:solidFill>
            <a:srgbClr val="FAF6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809744"/>
            <a:ext cx="73152" cy="658368"/>
          </a:xfrm>
          <a:prstGeom prst="rect">
            <a:avLst/>
          </a:prstGeom>
          <a:solidFill>
            <a:srgbClr val="E644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809744"/>
            <a:ext cx="2468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64415"/>
                </a:solidFill>
                <a:latin typeface="Courier New"/>
              </a:rPr>
              <a:t>relationships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4809744"/>
            <a:ext cx="8138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Lato"/>
              </a:rPr>
              <a:t>Every reading's city exists in the static city reference.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555555"/>
                </a:solidFill>
                <a:latin typeface="Lato"/>
              </a:rPr>
              <a:t>dbt test fails the Airflow task if any check fails, so bad data is caught before anyone trusts the KPIs.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rh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0624"/>
            <a:ext cx="868680" cy="671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12984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E64415"/>
                </a:solidFill>
                <a:latin typeface="Lato"/>
              </a:rPr>
              <a:t>9   </a:t>
            </a:r>
            <a:r>
              <a:rPr sz="2700" b="1" i="0">
                <a:solidFill>
                  <a:srgbClr val="1A1A1A"/>
                </a:solidFill>
                <a:latin typeface="Lato"/>
              </a:rPr>
              <a:t>Automation: Apache Airflow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993392"/>
            <a:ext cx="11018520" cy="1524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373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BBBBB"/>
                </a:solidFill>
                <a:latin typeface="Lato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1666189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44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478024"/>
            <a:ext cx="151988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Lato"/>
              </a:rPr>
              <a:t>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35224"/>
            <a:ext cx="151988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Lato"/>
              </a:rPr>
              <a:t/>
            </a:r>
          </a:p>
        </p:txBody>
      </p:sp>
      <p:sp>
        <p:nvSpPr>
          <p:cNvPr id="9" name="Right Arrow 8"/>
          <p:cNvSpPr/>
          <p:nvPr/>
        </p:nvSpPr>
        <p:spPr>
          <a:xfrm>
            <a:off x="2324557" y="2647188"/>
            <a:ext cx="146304" cy="146304"/>
          </a:xfrm>
          <a:prstGeom prst="rightArrow">
            <a:avLst/>
          </a:prstGeom>
          <a:solidFill>
            <a:srgbClr val="E644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89149" y="2331720"/>
            <a:ext cx="1666189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44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2301" y="2478024"/>
            <a:ext cx="151988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Lato"/>
              </a:rPr>
              <a:t>spark_clean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2301" y="2935224"/>
            <a:ext cx="151988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Lato"/>
              </a:rPr>
              <a:t/>
            </a:r>
          </a:p>
        </p:txBody>
      </p:sp>
      <p:sp>
        <p:nvSpPr>
          <p:cNvPr id="13" name="Right Arrow 12"/>
          <p:cNvSpPr/>
          <p:nvPr/>
        </p:nvSpPr>
        <p:spPr>
          <a:xfrm>
            <a:off x="4173626" y="2647188"/>
            <a:ext cx="146304" cy="146304"/>
          </a:xfrm>
          <a:prstGeom prst="rightArrow">
            <a:avLst/>
          </a:prstGeom>
          <a:solidFill>
            <a:srgbClr val="E644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38218" y="2331720"/>
            <a:ext cx="1666189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44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1370" y="2478024"/>
            <a:ext cx="151988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Lato"/>
              </a:rPr>
              <a:t>load_bigquery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1370" y="2935224"/>
            <a:ext cx="151988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Lato"/>
              </a:rPr>
              <a:t/>
            </a:r>
          </a:p>
        </p:txBody>
      </p:sp>
      <p:sp>
        <p:nvSpPr>
          <p:cNvPr id="17" name="Right Arrow 16"/>
          <p:cNvSpPr/>
          <p:nvPr/>
        </p:nvSpPr>
        <p:spPr>
          <a:xfrm>
            <a:off x="6022695" y="2647188"/>
            <a:ext cx="146304" cy="146304"/>
          </a:xfrm>
          <a:prstGeom prst="rightArrow">
            <a:avLst/>
          </a:prstGeom>
          <a:solidFill>
            <a:srgbClr val="E644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7287" y="2331720"/>
            <a:ext cx="1666189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44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0439" y="2478024"/>
            <a:ext cx="151988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Lato"/>
              </a:rPr>
              <a:t>dbt_seed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0439" y="2935224"/>
            <a:ext cx="151988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Lato"/>
              </a:rPr>
              <a:t/>
            </a:r>
          </a:p>
        </p:txBody>
      </p:sp>
      <p:sp>
        <p:nvSpPr>
          <p:cNvPr id="21" name="Right Arrow 20"/>
          <p:cNvSpPr/>
          <p:nvPr/>
        </p:nvSpPr>
        <p:spPr>
          <a:xfrm>
            <a:off x="7871764" y="2647188"/>
            <a:ext cx="146304" cy="146304"/>
          </a:xfrm>
          <a:prstGeom prst="rightArrow">
            <a:avLst/>
          </a:prstGeom>
          <a:solidFill>
            <a:srgbClr val="E644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36356" y="2331720"/>
            <a:ext cx="1666189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44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09508" y="2478024"/>
            <a:ext cx="151988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Lato"/>
              </a:rPr>
              <a:t>dbt_run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9508" y="2935224"/>
            <a:ext cx="151988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Lato"/>
              </a:rPr>
              <a:t/>
            </a:r>
          </a:p>
        </p:txBody>
      </p:sp>
      <p:sp>
        <p:nvSpPr>
          <p:cNvPr id="25" name="Right Arrow 24"/>
          <p:cNvSpPr/>
          <p:nvPr/>
        </p:nvSpPr>
        <p:spPr>
          <a:xfrm>
            <a:off x="9720833" y="2647188"/>
            <a:ext cx="146304" cy="146304"/>
          </a:xfrm>
          <a:prstGeom prst="rightArrow">
            <a:avLst/>
          </a:prstGeom>
          <a:solidFill>
            <a:srgbClr val="E644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885425" y="2331720"/>
            <a:ext cx="1666189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44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58577" y="2478024"/>
            <a:ext cx="151988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Lato"/>
              </a:rPr>
              <a:t>dbt_test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58577" y="2935224"/>
            <a:ext cx="151988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Lato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2918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55555"/>
                </a:solidFill>
                <a:latin typeface="Courier New"/>
              </a:rPr>
              <a:t>schedule = '*/5 * * * *'      catchup = False      max_active_runs = 1      retries = 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886200"/>
            <a:ext cx="10881360" cy="1783080"/>
          </a:xfrm>
          <a:prstGeom prst="rect">
            <a:avLst/>
          </a:prstGeom>
          <a:solidFill>
            <a:srgbClr val="FAF6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3886200"/>
            <a:ext cx="91440" cy="1783080"/>
          </a:xfrm>
          <a:prstGeom prst="rect">
            <a:avLst/>
          </a:prstGeom>
          <a:solidFill>
            <a:srgbClr val="E644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06908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E64415"/>
                </a:solidFill>
                <a:latin typeface="Lato"/>
              </a:rPr>
              <a:t>Verified run:  </a:t>
            </a:r>
            <a:r>
              <a:rPr sz="1400" b="0" i="0">
                <a:solidFill>
                  <a:srgbClr val="1A1A1A"/>
                </a:solidFill>
                <a:latin typeface="Lato"/>
              </a:rPr>
              <a:t>the DAG executed end to end through Airflow. DagRun state = success; all six tasks (ingest, spark_clean, load_bigquery, dbt_seed, dbt_run, dbt_test) returned success.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55555"/>
                </a:solidFill>
                <a:latin typeface="Lato"/>
              </a:rPr>
              <a:t>dbt_seed loaded the cities, dbt_run built 5 models, dbt_test passed all 17 checks against BigQuery.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555555"/>
                </a:solidFill>
                <a:latin typeface="Lato"/>
              </a:rPr>
              <a:t>run_pipeline.sh runs the same six-step chain and can be scheduled with cron as a fallback.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rh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0624"/>
            <a:ext cx="868680" cy="671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12984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E64415"/>
                </a:solidFill>
                <a:latin typeface="Lato"/>
              </a:rPr>
              <a:t>10   </a:t>
            </a:r>
            <a:r>
              <a:rPr sz="2700" b="1" i="0">
                <a:solidFill>
                  <a:srgbClr val="1A1A1A"/>
                </a:solidFill>
                <a:latin typeface="Lato"/>
              </a:rPr>
              <a:t>Sample results from the marts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993392"/>
            <a:ext cx="11018520" cy="1524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373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BBBBB"/>
                </a:solidFill>
                <a:latin typeface="Lato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555555"/>
                </a:solidFill>
                <a:latin typeface="Lato"/>
              </a:rPr>
              <a:t>Air quality by country  (average European AQI, lower is better)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97480"/>
            <a:ext cx="5486400" cy="457200"/>
          </a:xfrm>
          <a:prstGeom prst="rect">
            <a:avLst/>
          </a:prstGeom>
          <a:solidFill>
            <a:srgbClr val="E644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52344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Lato"/>
              </a:rPr>
              <a:t>Country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752344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Lato"/>
              </a:rPr>
              <a:t>Avg PM2.5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752344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Lato"/>
              </a:rPr>
              <a:t>Avg EAQI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09544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Lato"/>
              </a:rPr>
              <a:t>Italy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209544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Lato"/>
              </a:rPr>
              <a:t>4.7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209544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Lato"/>
              </a:rPr>
              <a:t>45.0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575304"/>
            <a:ext cx="5486400" cy="420624"/>
          </a:xfrm>
          <a:prstGeom prst="rect">
            <a:avLst/>
          </a:prstGeom>
          <a:solidFill>
            <a:srgbClr val="FAF6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63016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Lato"/>
              </a:rPr>
              <a:t>Portugal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63016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Lato"/>
              </a:rPr>
              <a:t>9.7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63016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Lato"/>
              </a:rPr>
              <a:t>41.0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5079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Lato"/>
              </a:rPr>
              <a:t>Spain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405079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Lato"/>
              </a:rPr>
              <a:t>6.1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05079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Lato"/>
              </a:rPr>
              <a:t>40.0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416552"/>
            <a:ext cx="5486400" cy="420624"/>
          </a:xfrm>
          <a:prstGeom prst="rect">
            <a:avLst/>
          </a:prstGeom>
          <a:solidFill>
            <a:srgbClr val="FAF6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471416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Lato"/>
              </a:rPr>
              <a:t>France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471416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Lato"/>
              </a:rPr>
              <a:t>4.4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471416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Lato"/>
              </a:rPr>
              <a:t>34.0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8920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Lato"/>
              </a:rPr>
              <a:t>Germany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8920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Lato"/>
              </a:rPr>
              <a:t>3.0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8920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Lato"/>
              </a:rPr>
              <a:t>29.5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257800"/>
            <a:ext cx="5486400" cy="420624"/>
          </a:xfrm>
          <a:prstGeom prst="rect">
            <a:avLst/>
          </a:prstGeom>
          <a:solidFill>
            <a:srgbClr val="FAF6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312664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Lato"/>
              </a:rPr>
              <a:t>Poland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5312664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Lato"/>
              </a:rPr>
              <a:t>4.3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312664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Lato"/>
              </a:rPr>
              <a:t>26.5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2651760"/>
            <a:ext cx="5029200" cy="3108960"/>
          </a:xfrm>
          <a:prstGeom prst="rect">
            <a:avLst/>
          </a:prstGeom>
          <a:solidFill>
            <a:srgbClr val="FAF6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92240" y="2651760"/>
            <a:ext cx="91440" cy="3108960"/>
          </a:xfrm>
          <a:prstGeom prst="rect">
            <a:avLst/>
          </a:prstGeom>
          <a:solidFill>
            <a:srgbClr val="E644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2834640"/>
            <a:ext cx="45720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E64415"/>
                </a:solidFill>
                <a:latin typeface="Lato"/>
              </a:rPr>
              <a:t>Highlights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1A1A1A"/>
                </a:solidFill>
                <a:latin typeface="Lato"/>
              </a:rPr>
              <a:t>Hottest city:  Madrid, 31.8 C average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1A1A1A"/>
                </a:solidFill>
                <a:latin typeface="Lato"/>
              </a:rPr>
              <a:t>Coolest city:  Warsaw, 13.25 C average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1A1A1A"/>
                </a:solidFill>
                <a:latin typeface="Lato"/>
              </a:rPr>
              <a:t>Worst air quality:  Italy (EAQI 45)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1A1A1A"/>
                </a:solidFill>
                <a:latin typeface="Lato"/>
              </a:rPr>
              <a:t>Best air quality:  Poland (EAQI 26.5)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555555"/>
                </a:solidFill>
                <a:latin typeface="Lato"/>
              </a:rPr>
              <a:t>Counts grow every 5 minutes as new hourly observations arrive, so the averages become richer over time.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rh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0624"/>
            <a:ext cx="868680" cy="671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12984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E64415"/>
                </a:solidFill>
                <a:latin typeface="Lato"/>
              </a:rPr>
              <a:t>11   </a:t>
            </a:r>
            <a:r>
              <a:rPr sz="2700" b="1" i="0">
                <a:solidFill>
                  <a:srgbClr val="1A1A1A"/>
                </a:solidFill>
                <a:latin typeface="Lato"/>
              </a:rPr>
              <a:t>How each requirement is met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993392"/>
            <a:ext cx="11018520" cy="1524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373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BBBBB"/>
                </a:solidFill>
                <a:latin typeface="Lato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10881360" cy="548640"/>
          </a:xfrm>
          <a:prstGeom prst="rect">
            <a:avLst/>
          </a:prstGeom>
          <a:solidFill>
            <a:srgbClr val="E6441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95728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Lato"/>
              </a:rPr>
              <a:t>Requirement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395728"/>
            <a:ext cx="6492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Lato"/>
              </a:rPr>
              <a:t>Where it is implemented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44368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A1A1A"/>
                </a:solidFill>
                <a:latin typeface="Lato"/>
              </a:rPr>
              <a:t>1. Two sources, one real-time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944368"/>
            <a:ext cx="6492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Lato"/>
              </a:rPr>
              <a:t>Open-Meteo APIs (real-time) + city reference seed (static)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401568"/>
            <a:ext cx="10881360" cy="566928"/>
          </a:xfrm>
          <a:prstGeom prst="rect">
            <a:avLst/>
          </a:prstGeom>
          <a:solidFill>
            <a:srgbClr val="FAF6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511296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A1A1A"/>
                </a:solidFill>
                <a:latin typeface="Lato"/>
              </a:rPr>
              <a:t>2. Extract, clean, load to BigQuery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511296"/>
            <a:ext cx="6492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Lato"/>
              </a:rPr>
              <a:t>producer.py, spark_clean.py, load_bigquery.py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78224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A1A1A"/>
                </a:solidFill>
                <a:latin typeface="Lato"/>
              </a:rPr>
              <a:t>3. Transformation with dbt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4078224"/>
            <a:ext cx="6492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Lato"/>
              </a:rPr>
              <a:t>seed + staging + marts, all SQL inside BigQuery (ELT)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535424"/>
            <a:ext cx="10881360" cy="566928"/>
          </a:xfrm>
          <a:prstGeom prst="rect">
            <a:avLst/>
          </a:prstGeom>
          <a:solidFill>
            <a:srgbClr val="FAF6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645152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A1A1A"/>
                </a:solidFill>
                <a:latin typeface="Lato"/>
              </a:rPr>
              <a:t>4. Include Spark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4645152"/>
            <a:ext cx="6492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Lato"/>
              </a:rPr>
              <a:t>Spark Structured Streaming cleaning job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212080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A1A1A"/>
                </a:solidFill>
                <a:latin typeface="Lato"/>
              </a:rPr>
              <a:t>5. Runs automatically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5212080"/>
            <a:ext cx="6492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Lato"/>
              </a:rPr>
              <a:t>Airflow DAG every 5 min (cron fallback: run_pipeline.sh)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669280"/>
            <a:ext cx="10881360" cy="566928"/>
          </a:xfrm>
          <a:prstGeom prst="rect">
            <a:avLst/>
          </a:prstGeom>
          <a:solidFill>
            <a:srgbClr val="FAF6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779008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A1A1A"/>
                </a:solidFill>
                <a:latin typeface="Lato"/>
              </a:rPr>
              <a:t>6. Presentation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5779008"/>
            <a:ext cx="6492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Lato"/>
              </a:rPr>
              <a:t>this deck: sources, cleaning, transformation explained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